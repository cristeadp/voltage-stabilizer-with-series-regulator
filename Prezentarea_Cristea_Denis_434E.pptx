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70" r:id="rId7"/>
    <p:sldId id="271" r:id="rId8"/>
    <p:sldId id="262" r:id="rId9"/>
    <p:sldId id="263" r:id="rId10"/>
    <p:sldId id="268" r:id="rId11"/>
    <p:sldId id="264" r:id="rId12"/>
    <p:sldId id="265" r:id="rId13"/>
    <p:sldId id="267" r:id="rId14"/>
    <p:sldId id="26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E2FC"/>
    <a:srgbClr val="DEE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E746C-06F2-4907-AE5C-341004B59EFB}" v="2" dt="2024-01-16T09:52:37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94718" autoAdjust="0"/>
  </p:normalViewPr>
  <p:slideViewPr>
    <p:cSldViewPr>
      <p:cViewPr varScale="1">
        <p:scale>
          <a:sx n="105" d="100"/>
          <a:sy n="105" d="100"/>
        </p:scale>
        <p:origin x="166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ela PANTAZICA (77018)" userId="65dd1fd0-c597-4793-af88-dcb5b49ea386" providerId="ADAL" clId="{5F9E746C-06F2-4907-AE5C-341004B59EFB}"/>
    <pc:docChg chg="custSel modMainMaster">
      <pc:chgData name="Mihaela PANTAZICA (77018)" userId="65dd1fd0-c597-4793-af88-dcb5b49ea386" providerId="ADAL" clId="{5F9E746C-06F2-4907-AE5C-341004B59EFB}" dt="2024-01-16T09:53:19.245" v="14" actId="1076"/>
      <pc:docMkLst>
        <pc:docMk/>
      </pc:docMkLst>
      <pc:sldMasterChg chg="modSldLayout">
        <pc:chgData name="Mihaela PANTAZICA (77018)" userId="65dd1fd0-c597-4793-af88-dcb5b49ea386" providerId="ADAL" clId="{5F9E746C-06F2-4907-AE5C-341004B59EFB}" dt="2024-01-16T09:53:19.245" v="14" actId="1076"/>
        <pc:sldMasterMkLst>
          <pc:docMk/>
          <pc:sldMasterMk cId="0" sldId="2147483648"/>
        </pc:sldMasterMkLst>
        <pc:sldLayoutChg chg="addSp delSp modSp mod">
          <pc:chgData name="Mihaela PANTAZICA (77018)" userId="65dd1fd0-c597-4793-af88-dcb5b49ea386" providerId="ADAL" clId="{5F9E746C-06F2-4907-AE5C-341004B59EFB}" dt="2024-01-16T09:53:19.245" v="14" actId="1076"/>
          <pc:sldLayoutMkLst>
            <pc:docMk/>
            <pc:sldMasterMk cId="0" sldId="2147483648"/>
            <pc:sldLayoutMk cId="0" sldId="2147483755"/>
          </pc:sldLayoutMkLst>
          <pc:picChg chg="del mod">
            <ac:chgData name="Mihaela PANTAZICA (77018)" userId="65dd1fd0-c597-4793-af88-dcb5b49ea386" providerId="ADAL" clId="{5F9E746C-06F2-4907-AE5C-341004B59EFB}" dt="2024-01-16T09:52:30.850" v="6" actId="478"/>
            <ac:picMkLst>
              <pc:docMk/>
              <pc:sldMasterMk cId="0" sldId="2147483648"/>
              <pc:sldLayoutMk cId="0" sldId="2147483755"/>
              <ac:picMk id="4" creationId="{00000000-0000-0000-0000-000000000000}"/>
            </ac:picMkLst>
          </pc:picChg>
          <pc:picChg chg="add mod">
            <ac:chgData name="Mihaela PANTAZICA (77018)" userId="65dd1fd0-c597-4793-af88-dcb5b49ea386" providerId="ADAL" clId="{5F9E746C-06F2-4907-AE5C-341004B59EFB}" dt="2024-01-16T09:52:24.281" v="5" actId="1076"/>
            <ac:picMkLst>
              <pc:docMk/>
              <pc:sldMasterMk cId="0" sldId="2147483648"/>
              <pc:sldLayoutMk cId="0" sldId="2147483755"/>
              <ac:picMk id="5" creationId="{9A8A37A8-1FA0-72F1-11F6-E35F7D2573F9}"/>
            </ac:picMkLst>
          </pc:picChg>
          <pc:picChg chg="mod">
            <ac:chgData name="Mihaela PANTAZICA (77018)" userId="65dd1fd0-c597-4793-af88-dcb5b49ea386" providerId="ADAL" clId="{5F9E746C-06F2-4907-AE5C-341004B59EFB}" dt="2024-01-16T09:53:19.245" v="14" actId="1076"/>
            <ac:picMkLst>
              <pc:docMk/>
              <pc:sldMasterMk cId="0" sldId="2147483648"/>
              <pc:sldLayoutMk cId="0" sldId="2147483755"/>
              <ac:picMk id="6" creationId="{00000000-0000-0000-0000-000000000000}"/>
            </ac:picMkLst>
          </pc:picChg>
          <pc:picChg chg="mod">
            <ac:chgData name="Mihaela PANTAZICA (77018)" userId="65dd1fd0-c597-4793-af88-dcb5b49ea386" providerId="ADAL" clId="{5F9E746C-06F2-4907-AE5C-341004B59EFB}" dt="2024-01-16T09:53:10.683" v="13" actId="14100"/>
            <ac:picMkLst>
              <pc:docMk/>
              <pc:sldMasterMk cId="0" sldId="2147483648"/>
              <pc:sldLayoutMk cId="0" sldId="2147483755"/>
              <ac:picMk id="10" creationId="{871CAC81-6169-4629-9F80-B677A4FE702D}"/>
            </ac:picMkLst>
          </pc:picChg>
          <pc:picChg chg="add mod">
            <ac:chgData name="Mihaela PANTAZICA (77018)" userId="65dd1fd0-c597-4793-af88-dcb5b49ea386" providerId="ADAL" clId="{5F9E746C-06F2-4907-AE5C-341004B59EFB}" dt="2024-01-16T09:53:02.081" v="11" actId="1076"/>
            <ac:picMkLst>
              <pc:docMk/>
              <pc:sldMasterMk cId="0" sldId="2147483648"/>
              <pc:sldLayoutMk cId="0" sldId="2147483755"/>
              <ac:picMk id="11" creationId="{6DC47A62-F13E-9FCF-6DFA-331684058E3C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015BCA8-4F01-4D86-9485-5DC1E35EBFDB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D67AA3-719D-41D2-92E8-0058ADCE64B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1648889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26" y="6188075"/>
            <a:ext cx="15462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69DE8-5E40-4F59-A536-4E3535E4BD0D}" type="datetimeFigureOut">
              <a:rPr lang="en-US"/>
              <a:pPr>
                <a:defRPr/>
              </a:pPr>
              <a:t>1/25/2026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81764-BCEA-4297-89EC-E9B9FA6D5FFE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1CAC81-6169-4629-9F80-B677A4FE70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21767" y="6120493"/>
            <a:ext cx="661307" cy="661307"/>
          </a:xfrm>
          <a:prstGeom prst="rect">
            <a:avLst/>
          </a:prstGeom>
        </p:spPr>
      </p:pic>
      <p:pic>
        <p:nvPicPr>
          <p:cNvPr id="4" name="Picture 3" descr="A circular logo with a dome and a building in the middle&#10;&#10;Description automatically generated">
            <a:extLst>
              <a:ext uri="{FF2B5EF4-FFF2-40B4-BE49-F238E27FC236}">
                <a16:creationId xmlns:a16="http://schemas.microsoft.com/office/drawing/2014/main" id="{806F23B7-D4CC-0ECB-B4C7-6D89675BB2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" y="266532"/>
            <a:ext cx="673735" cy="677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black and grey logo&#10;&#10;Description automatically generated">
            <a:extLst>
              <a:ext uri="{FF2B5EF4-FFF2-40B4-BE49-F238E27FC236}">
                <a16:creationId xmlns:a16="http://schemas.microsoft.com/office/drawing/2014/main" id="{62F6F635-2965-A334-FFBB-A2C7AAA14B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81" b="-890"/>
          <a:stretch>
            <a:fillRect/>
          </a:stretch>
        </p:blipFill>
        <p:spPr bwMode="auto">
          <a:xfrm>
            <a:off x="7494588" y="364004"/>
            <a:ext cx="1300480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ll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128DF-9211-42C1-924C-6ED55F92EB6B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EDCD3-1747-44F3-96BA-E6130A3B6926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F4FB5-DA46-4B59-B072-6321920AEBB2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EA4A9-FDDE-4124-B7ED-925DC65F175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E5E23-3A4D-4919-B13A-C7C659D9A4C5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B2AB8-832B-49F2-B42A-94633B11C65B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D576C-72AA-4F04-A8FA-E6F9A0A78EDE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FF29A-FFB6-4DD6-A464-81F1AA41C05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F9FB2-5FC9-4031-A63F-55468B896A5A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4738C-8B56-494D-BC41-2CE5AB556F81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7836D-3339-4785-8DFE-44A62EE29901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08C1A-C322-4EB4-BA9F-19700BBFC06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DAE1D-11A1-49F4-93EC-7199E98355EC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A1D1E-1E28-4485-AF5B-903820166ABD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AC4B3-5A3D-46FF-910E-76BD3CA27CF1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FB3B8-2000-45D4-B347-7E71F8489649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33659-CCDF-4DBB-A007-035A35EBFBAD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E8BC2-DD62-47BB-8C21-C4F2D9E1D567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2A60-9143-45D9-9F8D-86CB2F603058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5364C-50A9-4793-ADA7-A5D0D5526088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77E9F4-9028-411F-A9B5-35B847CAD700}" type="datetimeFigureOut">
              <a:rPr lang="en-US"/>
              <a:pPr>
                <a:defRPr/>
              </a:pPr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A764CC5-BE13-4CD0-A152-5E42E1160D2F}" type="slidenum">
              <a:rPr lang="en-US" altLang="ro-RO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>
    <p:pull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/>
          <a:p>
            <a:r>
              <a:rPr lang="ro-RO" altLang="en-US" sz="2400" b="1" dirty="0">
                <a:latin typeface="Arial" charset="0"/>
                <a:cs typeface="Arial" charset="0"/>
              </a:rPr>
              <a:t>Circuite Electronice Fundamentale 2 – Proiect (CEF2-Pr)</a:t>
            </a:r>
            <a:r>
              <a:rPr lang="en-US" altLang="en-US" sz="2400" b="1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0" y="5715000"/>
            <a:ext cx="441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ro-RO" sz="2000" b="1" dirty="0">
                <a:ea typeface="+mj-ea"/>
              </a:rPr>
              <a:t>Student</a:t>
            </a:r>
            <a:r>
              <a:rPr lang="en-US" sz="2000" b="1" dirty="0">
                <a:ea typeface="+mj-ea"/>
              </a:rPr>
              <a:t>: Cristea Denis-Petri</a:t>
            </a:r>
            <a:r>
              <a:rPr lang="ro-RO" sz="2000" b="1" dirty="0">
                <a:ea typeface="+mj-ea"/>
              </a:rPr>
              <a:t>șor</a:t>
            </a:r>
            <a:endParaRPr lang="en-US" sz="2000" b="1" dirty="0">
              <a:ea typeface="+mj-ea"/>
            </a:endParaRPr>
          </a:p>
          <a:p>
            <a:pPr>
              <a:defRPr/>
            </a:pPr>
            <a:r>
              <a:rPr lang="en-US" sz="2000" b="1" dirty="0">
                <a:ea typeface="+mj-ea"/>
              </a:rPr>
              <a:t>Grupa 434E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2004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400" b="1" dirty="0">
                <a:ea typeface="+mj-ea"/>
              </a:rPr>
              <a:t>Tema:  </a:t>
            </a:r>
            <a:r>
              <a:rPr lang="ro-RO" sz="2400" b="1" dirty="0">
                <a:ea typeface="+mj-ea"/>
              </a:rPr>
              <a:t>Stabilizator de tensiune cu Element </a:t>
            </a:r>
          </a:p>
          <a:p>
            <a:pPr algn="ctr">
              <a:defRPr/>
            </a:pPr>
            <a:r>
              <a:rPr lang="ro-RO" sz="2400" b="1" dirty="0">
                <a:ea typeface="+mj-ea"/>
              </a:rPr>
              <a:t>de Reglaj Serie (ERS)</a:t>
            </a:r>
            <a:r>
              <a:rPr lang="en-US" sz="2400" b="1" dirty="0">
                <a:ea typeface="+mj-ea"/>
              </a:rPr>
              <a:t>  </a:t>
            </a:r>
          </a:p>
        </p:txBody>
      </p:sp>
    </p:spTree>
  </p:cSld>
  <p:clrMapOvr>
    <a:masterClrMapping/>
  </p:clrMapOvr>
  <p:transition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en-US" altLang="en-US" sz="2400" b="1" dirty="0">
                <a:latin typeface="Arial" charset="0"/>
                <a:cs typeface="Arial" charset="0"/>
              </a:rPr>
              <a:t>Date de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proiectare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4099" name="Title 1"/>
          <p:cNvSpPr txBox="1">
            <a:spLocks/>
          </p:cNvSpPr>
          <p:nvPr/>
        </p:nvSpPr>
        <p:spPr bwMode="auto">
          <a:xfrm>
            <a:off x="381000" y="16002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ro-RO" dirty="0"/>
              <a:t>S</a:t>
            </a:r>
            <a:r>
              <a:rPr lang="ro-RO" altLang="ro-RO" dirty="0"/>
              <a:t>ă se proiecteze si realizeze un stabilizator de tensiune cu ERS având următoarele caracteristici</a:t>
            </a:r>
            <a:r>
              <a:rPr lang="en-US" altLang="ro-RO" dirty="0"/>
              <a:t>:</a:t>
            </a:r>
          </a:p>
          <a:p>
            <a:endParaRPr lang="ro-RO" altLang="ro-RO" dirty="0"/>
          </a:p>
          <a:p>
            <a:pPr>
              <a:buFont typeface="Arial" charset="0"/>
              <a:buChar char="•"/>
            </a:pPr>
            <a:r>
              <a:rPr lang="ro-RO" altLang="ro-RO" dirty="0"/>
              <a:t> 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N = 6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  <a:endParaRPr lang="ro-RO" altLang="ro-R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Arial" charset="0"/>
              <a:buChar char="•"/>
            </a:pP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Tensiunea de ieșire reglabilă în intervalul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3 – 6 [V];</a:t>
            </a:r>
          </a:p>
          <a:p>
            <a:pPr>
              <a:buFont typeface="Arial" charset="0"/>
              <a:buChar char="•"/>
            </a:pP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Sarcin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ă de ieșire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240 [</a:t>
            </a:r>
            <a:r>
              <a:rPr lang="el-GR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Ω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];</a:t>
            </a:r>
          </a:p>
          <a:p>
            <a:pPr>
              <a:buFont typeface="Arial" charset="0"/>
              <a:buChar char="•"/>
            </a:pP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Deriva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termic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ă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 &lt;2mV/ºC;</a:t>
            </a:r>
          </a:p>
          <a:p>
            <a:pPr>
              <a:buFont typeface="Arial" charset="0"/>
              <a:buChar char="•"/>
            </a:pP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Protec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ție la suprasarcină prin limitarea temperaturii tranzistorului regulator serie la </a:t>
            </a:r>
          </a:p>
          <a:p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 120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º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C și a curentului maxim la 0,5A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;</a:t>
            </a: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Tensiune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de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intrare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în intervalul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 10.8 – 12 [V];</a:t>
            </a: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Domeniul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temperaturilor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de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func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ționare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 0º - 60ºC;</a:t>
            </a: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Amplificarea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în tensiune minimă a amplificatorului de eroare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: minim 100;</a:t>
            </a: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Semnalizarea</a:t>
            </a:r>
            <a:r>
              <a:rPr lang="en-US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ro-RO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prezen</a:t>
            </a:r>
            <a:r>
              <a:rPr lang="ro-RO" altLang="ro-RO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ței tensiunilor de intrare/ieșire cu diodă de tip LED.</a:t>
            </a:r>
            <a:endParaRPr lang="en-US" altLang="ro-RO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charset="0"/>
              <a:buChar char="•"/>
            </a:pPr>
            <a:endParaRPr lang="en-US" altLang="ro-RO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Schema bloc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5123" name="Title 1"/>
          <p:cNvSpPr txBox="1">
            <a:spLocks/>
          </p:cNvSpPr>
          <p:nvPr/>
        </p:nvSpPr>
        <p:spPr bwMode="auto">
          <a:xfrm>
            <a:off x="3048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endParaRPr lang="ro-RO" altLang="ro-RO" dirty="0"/>
          </a:p>
          <a:p>
            <a:pPr>
              <a:buFont typeface="Arial" charset="0"/>
              <a:buChar char="•"/>
            </a:pPr>
            <a:r>
              <a:rPr lang="en-US" altLang="ro-RO" dirty="0"/>
              <a:t> </a:t>
            </a:r>
            <a:r>
              <a:rPr lang="en-US" dirty="0"/>
              <a:t>V REF - </a:t>
            </a:r>
            <a:r>
              <a:rPr lang="en-US" dirty="0" err="1"/>
              <a:t>referința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</a:t>
            </a:r>
            <a:endParaRPr lang="ro-RO" dirty="0"/>
          </a:p>
          <a:p>
            <a:r>
              <a:rPr lang="en-US" dirty="0"/>
              <a:t>• AE - </a:t>
            </a:r>
            <a:r>
              <a:rPr lang="en-US" dirty="0" err="1"/>
              <a:t>amplificator</a:t>
            </a:r>
            <a:r>
              <a:rPr lang="en-US" dirty="0"/>
              <a:t> </a:t>
            </a:r>
            <a:r>
              <a:rPr lang="en-US" dirty="0" err="1"/>
              <a:t>operațional</a:t>
            </a:r>
            <a:r>
              <a:rPr lang="en-US" dirty="0"/>
              <a:t> de </a:t>
            </a:r>
            <a:r>
              <a:rPr lang="en-US" dirty="0" err="1"/>
              <a:t>eroare</a:t>
            </a:r>
            <a:r>
              <a:rPr lang="en-US" dirty="0"/>
              <a:t> </a:t>
            </a:r>
            <a:endParaRPr lang="ro-RO" dirty="0"/>
          </a:p>
          <a:p>
            <a:r>
              <a:rPr lang="en-US" dirty="0"/>
              <a:t>• ERS - element de </a:t>
            </a:r>
            <a:r>
              <a:rPr lang="en-US" dirty="0" err="1"/>
              <a:t>reglaj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( </a:t>
            </a:r>
            <a:r>
              <a:rPr lang="en-US" dirty="0" err="1"/>
              <a:t>grupare</a:t>
            </a:r>
            <a:r>
              <a:rPr lang="en-US" dirty="0"/>
              <a:t> Darlington)</a:t>
            </a:r>
            <a:endParaRPr lang="ro-RO" dirty="0"/>
          </a:p>
          <a:p>
            <a:r>
              <a:rPr lang="en-US" dirty="0"/>
              <a:t>• PROTECȚIE S. - circuit de </a:t>
            </a:r>
            <a:r>
              <a:rPr lang="en-US" dirty="0" err="1"/>
              <a:t>protecție</a:t>
            </a:r>
            <a:r>
              <a:rPr lang="en-US" dirty="0"/>
              <a:t> la </a:t>
            </a:r>
            <a:r>
              <a:rPr lang="en-US" dirty="0" err="1"/>
              <a:t>suprasarcină</a:t>
            </a:r>
            <a:r>
              <a:rPr lang="en-US" dirty="0"/>
              <a:t> </a:t>
            </a:r>
            <a:endParaRPr lang="ro-RO" dirty="0"/>
          </a:p>
          <a:p>
            <a:r>
              <a:rPr lang="en-US" dirty="0"/>
              <a:t>• PROTECȚIE T. - circuit de </a:t>
            </a:r>
            <a:r>
              <a:rPr lang="en-US" dirty="0" err="1"/>
              <a:t>protecție</a:t>
            </a:r>
            <a:r>
              <a:rPr lang="en-US" dirty="0"/>
              <a:t> la temperature </a:t>
            </a:r>
            <a:endParaRPr lang="ro-RO" dirty="0"/>
          </a:p>
          <a:p>
            <a:r>
              <a:rPr lang="en-US" dirty="0"/>
              <a:t>• RRN - </a:t>
            </a:r>
            <a:r>
              <a:rPr lang="en-US" dirty="0" err="1"/>
              <a:t>rețea</a:t>
            </a:r>
            <a:r>
              <a:rPr lang="en-US" dirty="0"/>
              <a:t> de </a:t>
            </a:r>
            <a:r>
              <a:rPr lang="en-US" dirty="0" err="1"/>
              <a:t>reacție</a:t>
            </a:r>
            <a:r>
              <a:rPr lang="en-US" dirty="0"/>
              <a:t> negative </a:t>
            </a:r>
            <a:endParaRPr lang="ro-RO" dirty="0"/>
          </a:p>
          <a:p>
            <a:r>
              <a:rPr lang="en-US" dirty="0"/>
              <a:t>• RS - sarcina la </a:t>
            </a:r>
            <a:r>
              <a:rPr lang="en-US" dirty="0" err="1"/>
              <a:t>ieșire</a:t>
            </a:r>
            <a:endParaRPr lang="en-US" altLang="ro-RO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91186-1772-0F0B-E3A2-4D73191E9C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1676400"/>
            <a:ext cx="3733800" cy="2097200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Schema electrică 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147" name="Title 1"/>
          <p:cNvSpPr txBox="1">
            <a:spLocks/>
          </p:cNvSpPr>
          <p:nvPr/>
        </p:nvSpPr>
        <p:spPr bwMode="auto">
          <a:xfrm>
            <a:off x="304800" y="1524000"/>
            <a:ext cx="3810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ro-RO" dirty="0"/>
              <a:t>  Pentru </a:t>
            </a:r>
            <a:r>
              <a:rPr lang="ro-R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amplificatorul de eroare</a:t>
            </a:r>
            <a:r>
              <a:rPr lang="en-US" dirty="0"/>
              <a:t>,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ieșire</a:t>
            </a:r>
            <a:r>
              <a:rPr lang="en-US" dirty="0"/>
              <a:t> </a:t>
            </a:r>
            <a:r>
              <a:rPr lang="en-US" dirty="0" err="1"/>
              <a:t>eșantionată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adusă</a:t>
            </a:r>
            <a:r>
              <a:rPr lang="en-US" dirty="0"/>
              <a:t> </a:t>
            </a:r>
            <a:r>
              <a:rPr lang="en-US" dirty="0" err="1"/>
              <a:t>înapoi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comparată</a:t>
            </a:r>
            <a:r>
              <a:rPr lang="en-US" dirty="0"/>
              <a:t> cu o </a:t>
            </a:r>
            <a:r>
              <a:rPr lang="en-US" dirty="0" err="1"/>
              <a:t>tensiune</a:t>
            </a:r>
            <a:r>
              <a:rPr lang="en-US" dirty="0"/>
              <a:t> de </a:t>
            </a:r>
            <a:r>
              <a:rPr lang="en-US" dirty="0" err="1"/>
              <a:t>referință</a:t>
            </a:r>
            <a:r>
              <a:rPr lang="en-US" dirty="0"/>
              <a:t> </a:t>
            </a:r>
            <a:r>
              <a:rPr lang="en-US" dirty="0" err="1"/>
              <a:t>stabilă</a:t>
            </a:r>
            <a:r>
              <a:rPr lang="en-US" dirty="0"/>
              <a:t>. Orice </a:t>
            </a:r>
            <a:r>
              <a:rPr lang="en-US" dirty="0" err="1"/>
              <a:t>diferență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generează</a:t>
            </a:r>
            <a:r>
              <a:rPr lang="en-US" dirty="0"/>
              <a:t> o </a:t>
            </a:r>
            <a:r>
              <a:rPr lang="en-US" dirty="0" err="1"/>
              <a:t>tensiune</a:t>
            </a:r>
            <a:r>
              <a:rPr lang="en-US" dirty="0"/>
              <a:t> de </a:t>
            </a:r>
            <a:r>
              <a:rPr lang="en-US" dirty="0" err="1"/>
              <a:t>eroare</a:t>
            </a:r>
            <a:r>
              <a:rPr lang="en-US" dirty="0"/>
              <a:t> de </a:t>
            </a:r>
            <a:r>
              <a:rPr lang="en-US" dirty="0" err="1"/>
              <a:t>compensare</a:t>
            </a:r>
            <a:r>
              <a:rPr lang="en-US" dirty="0"/>
              <a:t>, care </a:t>
            </a:r>
            <a:r>
              <a:rPr lang="en-US" dirty="0" err="1"/>
              <a:t>acționează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ajusta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ieșire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conforma</a:t>
            </a:r>
            <a:r>
              <a:rPr lang="en-US" dirty="0"/>
              <a:t> </a:t>
            </a:r>
            <a:r>
              <a:rPr lang="en-US" dirty="0" err="1"/>
              <a:t>specificațiilor</a:t>
            </a:r>
            <a:r>
              <a:rPr lang="en-US" dirty="0"/>
              <a:t> de </a:t>
            </a:r>
            <a:r>
              <a:rPr lang="en-US" dirty="0" err="1"/>
              <a:t>proiectare</a:t>
            </a:r>
            <a:r>
              <a:rPr lang="en-US" dirty="0"/>
              <a:t>. </a:t>
            </a:r>
            <a:endParaRPr lang="ro-RO" dirty="0"/>
          </a:p>
          <a:p>
            <a:pPr>
              <a:buFont typeface="Arial" charset="0"/>
              <a:buChar char="•"/>
            </a:pPr>
            <a:r>
              <a:rPr lang="ro-RO" dirty="0"/>
              <a:t>  </a:t>
            </a:r>
            <a:r>
              <a:rPr lang="en-US" b="1" dirty="0" err="1"/>
              <a:t>Elementul</a:t>
            </a:r>
            <a:r>
              <a:rPr lang="en-US" b="1" dirty="0"/>
              <a:t> de </a:t>
            </a:r>
            <a:r>
              <a:rPr lang="en-US" b="1" dirty="0" err="1"/>
              <a:t>reglaj</a:t>
            </a:r>
            <a:r>
              <a:rPr lang="en-US" b="1" dirty="0"/>
              <a:t> </a:t>
            </a:r>
            <a:r>
              <a:rPr lang="en-US" b="1" dirty="0" err="1"/>
              <a:t>serie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format din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tranzistoare</a:t>
            </a:r>
            <a:r>
              <a:rPr lang="en-US" dirty="0"/>
              <a:t> de </a:t>
            </a:r>
            <a:r>
              <a:rPr lang="en-US" dirty="0" err="1"/>
              <a:t>putere</a:t>
            </a:r>
            <a:r>
              <a:rPr lang="en-US" dirty="0"/>
              <a:t>(de tip MJD31C), </a:t>
            </a:r>
            <a:r>
              <a:rPr lang="en-US" dirty="0" err="1"/>
              <a:t>aflate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configurație</a:t>
            </a:r>
            <a:r>
              <a:rPr lang="en-US" dirty="0"/>
              <a:t> de </a:t>
            </a:r>
            <a:r>
              <a:rPr lang="en-US" dirty="0" err="1"/>
              <a:t>punte</a:t>
            </a:r>
            <a:r>
              <a:rPr lang="en-US" dirty="0"/>
              <a:t> Darlington, </a:t>
            </a:r>
            <a:r>
              <a:rPr lang="en-US" dirty="0" err="1"/>
              <a:t>tranzistoare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furnizează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cu 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dirty="0" err="1"/>
              <a:t>câștig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ieșire</a:t>
            </a:r>
            <a:r>
              <a:rPr lang="en-US" dirty="0"/>
              <a:t>.</a:t>
            </a:r>
            <a:endParaRPr lang="en-US" altLang="ro-RO" dirty="0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86C43360-7343-4051-8E96-F8CB22675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447800"/>
            <a:ext cx="4724400" cy="3797576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Simulări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7171" name="Title 1"/>
          <p:cNvSpPr txBox="1">
            <a:spLocks/>
          </p:cNvSpPr>
          <p:nvPr/>
        </p:nvSpPr>
        <p:spPr bwMode="auto">
          <a:xfrm>
            <a:off x="228600" y="1524000"/>
            <a:ext cx="670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77800" indent="-177800">
              <a:buFont typeface="Arial" charset="0"/>
              <a:buChar char="•"/>
            </a:pPr>
            <a:r>
              <a:rPr lang="en-US" altLang="ro-RO" dirty="0"/>
              <a:t> C</a:t>
            </a:r>
            <a:r>
              <a:rPr lang="ro-RO" altLang="ro-RO" dirty="0"/>
              <a:t>urenți/Tensiuni în DC (Vin = 10.8V, iar SET = 0)</a:t>
            </a:r>
          </a:p>
        </p:txBody>
      </p:sp>
      <p:pic>
        <p:nvPicPr>
          <p:cNvPr id="2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31A00640-569F-CF5B-6895-6167DD9B5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8" y="1990725"/>
            <a:ext cx="4405149" cy="3724275"/>
          </a:xfrm>
          <a:prstGeom prst="rect">
            <a:avLst/>
          </a:prstGeom>
        </p:spPr>
      </p:pic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DAB6CD20-6A8A-5AE4-14C2-2EFB54B48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90725"/>
            <a:ext cx="4475253" cy="3724275"/>
          </a:xfrm>
          <a:prstGeom prst="rect">
            <a:avLst/>
          </a:prstGeom>
        </p:spPr>
      </p:pic>
    </p:spTree>
  </p:cSld>
  <p:clrMapOvr>
    <a:masterClrMapping/>
  </p:clrMapOvr>
  <p:transition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1B251-5E6F-FC4B-E7F6-FBF38AE8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8FA29E98-18E4-E21B-9E67-8763953FC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Simulări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7171" name="Title 1">
            <a:extLst>
              <a:ext uri="{FF2B5EF4-FFF2-40B4-BE49-F238E27FC236}">
                <a16:creationId xmlns:a16="http://schemas.microsoft.com/office/drawing/2014/main" id="{AABB87AF-0762-C0BE-10B4-B13ACFD8C9DE}"/>
              </a:ext>
            </a:extLst>
          </p:cNvPr>
          <p:cNvSpPr txBox="1">
            <a:spLocks/>
          </p:cNvSpPr>
          <p:nvPr/>
        </p:nvSpPr>
        <p:spPr bwMode="auto">
          <a:xfrm>
            <a:off x="228600" y="1524000"/>
            <a:ext cx="7086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77800" indent="-177800">
              <a:buFont typeface="Arial" charset="0"/>
              <a:buChar char="•"/>
            </a:pPr>
            <a:r>
              <a:rPr lang="en-US" altLang="ro-RO" dirty="0"/>
              <a:t>  </a:t>
            </a:r>
            <a:r>
              <a:rPr lang="en-US" dirty="0" err="1"/>
              <a:t>Variația</a:t>
            </a:r>
            <a:r>
              <a:rPr lang="en-US" dirty="0"/>
              <a:t> </a:t>
            </a:r>
            <a:r>
              <a:rPr lang="en-US" dirty="0" err="1"/>
              <a:t>tensiunii</a:t>
            </a:r>
            <a:r>
              <a:rPr lang="en-US" dirty="0"/>
              <a:t> de </a:t>
            </a:r>
            <a:r>
              <a:rPr lang="en-US" dirty="0" err="1"/>
              <a:t>ieșire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ro-RO" dirty="0"/>
          </a:p>
          <a:p>
            <a:pPr marL="177800" indent="-177800">
              <a:buFont typeface="Arial" charset="0"/>
              <a:buChar char="•"/>
            </a:pPr>
            <a:r>
              <a:rPr lang="ro-RO" dirty="0"/>
              <a:t>  (</a:t>
            </a:r>
            <a:r>
              <a:rPr lang="ro-RO" altLang="ro-RO" dirty="0"/>
              <a:t>Vin = 10.8V, iar SET = 0)</a:t>
            </a:r>
            <a:endParaRPr lang="en-US" altLang="ro-RO" dirty="0"/>
          </a:p>
          <a:p>
            <a:pPr marL="177800" indent="-177800">
              <a:buFont typeface="Arial" charset="0"/>
              <a:buChar char="•"/>
            </a:pPr>
            <a:endParaRPr lang="ro-RO" altLang="ro-R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0D981-AC44-CAA4-C2A9-35969D98D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057400"/>
            <a:ext cx="8077200" cy="364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34294"/>
      </p:ext>
    </p:extLst>
  </p:cSld>
  <p:clrMapOvr>
    <a:masterClrMapping/>
  </p:clrMapOvr>
  <p:transition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0CE4-3CFD-957D-5F21-ADAF60ED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135413B-4A8F-FD7A-A033-ED58C3477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Layout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229821-F161-3BD8-13CA-794B1602E12E}"/>
              </a:ext>
            </a:extLst>
          </p:cNvPr>
          <p:cNvSpPr txBox="1">
            <a:spLocks/>
          </p:cNvSpPr>
          <p:nvPr/>
        </p:nvSpPr>
        <p:spPr bwMode="auto">
          <a:xfrm>
            <a:off x="228600" y="1447800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pitchFamily="34" charset="0"/>
              <a:buChar char="•"/>
              <a:defRPr/>
            </a:pPr>
            <a:r>
              <a:rPr lang="en-US" dirty="0">
                <a:ea typeface="+mj-ea"/>
              </a:rPr>
              <a:t> V</a:t>
            </a:r>
            <a:r>
              <a:rPr lang="ro-RO" dirty="0">
                <a:ea typeface="+mj-ea"/>
              </a:rPr>
              <a:t>edere Top</a:t>
            </a:r>
            <a:endParaRPr lang="en-US" dirty="0"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14A9F-BD4E-8CAA-A6B1-622C8DCE09C8}"/>
              </a:ext>
            </a:extLst>
          </p:cNvPr>
          <p:cNvSpPr txBox="1">
            <a:spLocks/>
          </p:cNvSpPr>
          <p:nvPr/>
        </p:nvSpPr>
        <p:spPr bwMode="auto">
          <a:xfrm>
            <a:off x="5105400" y="1447800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pitchFamily="34" charset="0"/>
              <a:buChar char="•"/>
              <a:defRPr/>
            </a:pPr>
            <a:r>
              <a:rPr lang="en-US" dirty="0">
                <a:ea typeface="+mj-ea"/>
              </a:rPr>
              <a:t> V</a:t>
            </a:r>
            <a:r>
              <a:rPr lang="ro-RO" dirty="0">
                <a:ea typeface="+mj-ea"/>
              </a:rPr>
              <a:t>edere Bottom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09742-B236-9ED1-F61D-C68A683E7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49" y="2057400"/>
            <a:ext cx="3575028" cy="358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19EAC-1B14-060B-E803-D88FD3DBC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872" y="2045206"/>
            <a:ext cx="3575038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13109"/>
      </p:ext>
    </p:extLst>
  </p:cSld>
  <p:clrMapOvr>
    <a:masterClrMapping/>
  </p:clrMapOvr>
  <p:transition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Layout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28600" y="1447800"/>
            <a:ext cx="8534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 </a:t>
            </a:r>
            <a:r>
              <a:rPr lang="en-US" dirty="0" err="1"/>
              <a:t>plasat</a:t>
            </a:r>
            <a:r>
              <a:rPr lang="en-US" dirty="0"/>
              <a:t> </a:t>
            </a:r>
            <a:r>
              <a:rPr lang="en-US" dirty="0" err="1"/>
              <a:t>jumperii</a:t>
            </a:r>
            <a:r>
              <a:rPr lang="en-US" dirty="0"/>
              <a:t> la </a:t>
            </a:r>
            <a:r>
              <a:rPr lang="en-US" dirty="0" err="1"/>
              <a:t>marginea</a:t>
            </a:r>
            <a:r>
              <a:rPr lang="en-US" dirty="0"/>
              <a:t> layout-</a:t>
            </a:r>
            <a:r>
              <a:rPr lang="en-US" dirty="0" err="1"/>
              <a:t>ului</a:t>
            </a:r>
            <a:r>
              <a:rPr lang="en-US" dirty="0"/>
              <a:t>, </a:t>
            </a:r>
            <a:r>
              <a:rPr lang="en-US" dirty="0" err="1"/>
              <a:t>deoarece</a:t>
            </a:r>
            <a:r>
              <a:rPr lang="en-US" dirty="0"/>
              <a:t> sunt </a:t>
            </a:r>
            <a:r>
              <a:rPr lang="en-US" dirty="0" err="1"/>
              <a:t>comparativ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restul</a:t>
            </a:r>
            <a:r>
              <a:rPr lang="en-US" dirty="0"/>
              <a:t> </a:t>
            </a:r>
            <a:r>
              <a:rPr lang="en-US" dirty="0" err="1"/>
              <a:t>componentelor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simplifica</a:t>
            </a:r>
            <a:r>
              <a:rPr lang="en-US" dirty="0"/>
              <a:t> </a:t>
            </a:r>
            <a:r>
              <a:rPr lang="en-US" dirty="0" err="1"/>
              <a:t>alimentarea</a:t>
            </a:r>
            <a:r>
              <a:rPr lang="en-US" dirty="0"/>
              <a:t> </a:t>
            </a:r>
            <a:r>
              <a:rPr lang="en-US" dirty="0" err="1"/>
              <a:t>circuitului</a:t>
            </a:r>
            <a:r>
              <a:rPr lang="en-US" dirty="0"/>
              <a:t>.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ale </a:t>
            </a:r>
            <a:r>
              <a:rPr lang="en-US" dirty="0" err="1"/>
              <a:t>circuitului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plasate</a:t>
            </a:r>
            <a:r>
              <a:rPr lang="en-US" dirty="0"/>
              <a:t>, </a:t>
            </a:r>
            <a:r>
              <a:rPr lang="en-US" dirty="0" err="1"/>
              <a:t>respectând</a:t>
            </a:r>
            <a:r>
              <a:rPr lang="en-US" dirty="0"/>
              <a:t> pe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schema </a:t>
            </a:r>
            <a:r>
              <a:rPr lang="en-US" dirty="0" err="1"/>
              <a:t>electrică</a:t>
            </a:r>
            <a:r>
              <a:rPr lang="en-US" dirty="0"/>
              <a:t> </a:t>
            </a:r>
            <a:r>
              <a:rPr lang="en-US" dirty="0" err="1"/>
              <a:t>realizată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OrCad</a:t>
            </a:r>
            <a:r>
              <a:rPr lang="en-US" dirty="0"/>
              <a:t>.</a:t>
            </a: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curentii</a:t>
            </a:r>
            <a:r>
              <a:rPr lang="en-US" dirty="0"/>
              <a:t> sunt de </a:t>
            </a:r>
            <a:r>
              <a:rPr lang="en-US" dirty="0" err="1"/>
              <a:t>sute</a:t>
            </a:r>
            <a:r>
              <a:rPr lang="en-US" dirty="0"/>
              <a:t> de mA, </a:t>
            </a:r>
            <a:r>
              <a:rPr lang="en-US" dirty="0" err="1"/>
              <a:t>traseele</a:t>
            </a:r>
            <a:r>
              <a:rPr lang="en-US" dirty="0"/>
              <a:t> de </a:t>
            </a:r>
            <a:r>
              <a:rPr lang="en-US" dirty="0" err="1"/>
              <a:t>interconectare</a:t>
            </a:r>
            <a:r>
              <a:rPr lang="en-US" dirty="0"/>
              <a:t> au </a:t>
            </a:r>
            <a:r>
              <a:rPr lang="en-US" dirty="0" err="1"/>
              <a:t>latimi</a:t>
            </a:r>
            <a:r>
              <a:rPr lang="en-US" dirty="0"/>
              <a:t> de 18 </a:t>
            </a:r>
            <a:r>
              <a:rPr lang="en-US" dirty="0" err="1"/>
              <a:t>mili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304800" y="685800"/>
            <a:ext cx="8610600" cy="914400"/>
          </a:xfrm>
        </p:spPr>
        <p:txBody>
          <a:bodyPr/>
          <a:lstStyle/>
          <a:p>
            <a:pPr algn="l"/>
            <a:r>
              <a:rPr lang="en-GB" altLang="en-US" sz="2400" b="1" dirty="0" err="1">
                <a:latin typeface="Arial" charset="0"/>
                <a:cs typeface="Arial" charset="0"/>
              </a:rPr>
              <a:t>Fotografii</a:t>
            </a:r>
            <a:r>
              <a:rPr lang="en-GB" altLang="en-US" sz="2400" b="1" dirty="0">
                <a:latin typeface="Arial" charset="0"/>
                <a:cs typeface="Arial" charset="0"/>
              </a:rPr>
              <a:t> din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etapa</a:t>
            </a:r>
            <a:r>
              <a:rPr lang="en-GB" altLang="en-US" sz="2400" b="1" dirty="0">
                <a:latin typeface="Arial" charset="0"/>
                <a:cs typeface="Arial" charset="0"/>
              </a:rPr>
              <a:t> de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echipare</a:t>
            </a:r>
            <a:r>
              <a:rPr lang="en-GB" altLang="en-US" sz="2400" b="1" dirty="0">
                <a:latin typeface="Arial" charset="0"/>
                <a:cs typeface="Arial" charset="0"/>
              </a:rPr>
              <a:t> a </a:t>
            </a:r>
            <a:r>
              <a:rPr lang="en-GB" altLang="en-US" sz="2400" b="1" dirty="0" err="1">
                <a:latin typeface="Arial" charset="0"/>
                <a:cs typeface="Arial" charset="0"/>
              </a:rPr>
              <a:t>modulului</a:t>
            </a:r>
            <a:r>
              <a:rPr lang="en-GB" altLang="en-US" sz="2400" b="1" dirty="0">
                <a:latin typeface="Arial" charset="0"/>
                <a:cs typeface="Arial" charset="0"/>
              </a:rPr>
              <a:t> electronic</a:t>
            </a:r>
            <a:endParaRPr lang="en-US" altLang="en-US" sz="24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9219" name="Title 1"/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 altLang="ro-RO" dirty="0"/>
              <a:t> </a:t>
            </a:r>
            <a:r>
              <a:rPr lang="ro-RO" altLang="ro-RO" dirty="0"/>
              <a:t>Layout PCB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Foto PCB echipat</a:t>
            </a: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Maxim </a:t>
            </a:r>
            <a:r>
              <a:rPr lang="en-GB" altLang="ro-RO" dirty="0">
                <a:solidFill>
                  <a:srgbClr val="FF0000"/>
                </a:solidFill>
              </a:rPr>
              <a:t>o</a:t>
            </a:r>
            <a:r>
              <a:rPr lang="ro-RO" altLang="ro-RO" dirty="0">
                <a:solidFill>
                  <a:srgbClr val="FF0000"/>
                </a:solidFill>
              </a:rPr>
              <a:t> pagină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Rezultate experimentale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9219" name="Title 1"/>
          <p:cNvSpPr txBox="1">
            <a:spLocks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GB" altLang="ro-RO" dirty="0"/>
              <a:t> </a:t>
            </a:r>
            <a:r>
              <a:rPr lang="ro-RO" altLang="ro-RO" dirty="0"/>
              <a:t>Foto forme de undă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Tabele măsurători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Tot ceea ce justifică funcționarea proiectului în specificațiile impuse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ro-RO" altLang="ro-RO" dirty="0">
                <a:solidFill>
                  <a:srgbClr val="FF0000"/>
                </a:solidFill>
              </a:rPr>
              <a:t>Maxim două pagini</a:t>
            </a:r>
            <a:endParaRPr lang="en-US" altLang="ro-RO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Rezultate experimentale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52400" y="160020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>
              <a:buFont typeface="Arial" pitchFamily="34" charset="0"/>
              <a:buChar char="•"/>
              <a:defRPr/>
            </a:pPr>
            <a:r>
              <a:rPr lang="ro-RO" dirty="0">
                <a:ea typeface="+mj-ea"/>
              </a:rPr>
              <a:t>Tabel comparativ </a:t>
            </a:r>
            <a:endParaRPr lang="en-US" dirty="0">
              <a:ea typeface="+mj-e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2362200"/>
          <a:ext cx="8382000" cy="297180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Cerințe impuse</a:t>
                      </a:r>
                      <a:endParaRPr kumimoji="0" lang="en-US" altLang="ro-R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Rezultate simulări</a:t>
                      </a:r>
                      <a:endParaRPr kumimoji="0" lang="en-US" altLang="ro-RO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Rezultate măsurători</a:t>
                      </a:r>
                      <a:endParaRPr kumimoji="0" lang="en-US" altLang="ro-RO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o-RO" altLang="ro-RO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0" y="27432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>
                <a:latin typeface="Arial" charset="0"/>
                <a:cs typeface="Arial" charset="0"/>
              </a:rPr>
              <a:t>Concluzii</a:t>
            </a:r>
            <a:endParaRPr lang="en-US" altLang="en-US" sz="2400" b="1">
              <a:latin typeface="Arial" charset="0"/>
              <a:cs typeface="Arial" charset="0"/>
            </a:endParaRPr>
          </a:p>
        </p:txBody>
      </p:sp>
      <p:sp>
        <p:nvSpPr>
          <p:cNvPr id="11267" name="Title 1"/>
          <p:cNvSpPr txBox="1">
            <a:spLocks/>
          </p:cNvSpPr>
          <p:nvPr/>
        </p:nvSpPr>
        <p:spPr bwMode="auto">
          <a:xfrm>
            <a:off x="1524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Font typeface="Arial" charset="0"/>
              <a:buChar char="•"/>
            </a:pPr>
            <a:r>
              <a:rPr lang="en-US" altLang="ro-RO" dirty="0"/>
              <a:t> </a:t>
            </a:r>
            <a:r>
              <a:rPr lang="ro-RO" altLang="ro-RO" dirty="0"/>
              <a:t>Se comentează rezultatele obținute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Ce îmbunătățiri ar putea fi aduse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În cazul în care proiectul nu a funcționat la prima încercare, se scot în evidență erorile de concept/realizare (d.p.d.v al proiectării schemei, layout-ului, etc. )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/>
              <a:t>C</a:t>
            </a:r>
            <a:r>
              <a:rPr lang="ro-RO" altLang="ro-RO" dirty="0"/>
              <a:t>um ar putea fi depanat – plan de depanare (organigramă)</a:t>
            </a:r>
          </a:p>
          <a:p>
            <a:pPr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>
                <a:solidFill>
                  <a:srgbClr val="FF0000"/>
                </a:solidFill>
              </a:rPr>
              <a:t>M</a:t>
            </a:r>
            <a:r>
              <a:rPr lang="ro-RO" altLang="ro-RO" dirty="0">
                <a:solidFill>
                  <a:srgbClr val="FF0000"/>
                </a:solidFill>
              </a:rPr>
              <a:t>axim două pagini</a:t>
            </a: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! Timpul maxim acordat expunerii este de </a:t>
            </a:r>
            <a:r>
              <a:rPr lang="en-US" altLang="ro-RO" dirty="0">
                <a:solidFill>
                  <a:srgbClr val="FF0000"/>
                </a:solidFill>
              </a:rPr>
              <a:t>5-6</a:t>
            </a:r>
            <a:r>
              <a:rPr lang="ro-RO" altLang="ro-RO" dirty="0">
                <a:solidFill>
                  <a:srgbClr val="FF0000"/>
                </a:solidFill>
              </a:rPr>
              <a:t>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Concluzii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12291" name="Title 1"/>
          <p:cNvSpPr txBox="1">
            <a:spLocks/>
          </p:cNvSpPr>
          <p:nvPr/>
        </p:nvSpPr>
        <p:spPr bwMode="auto">
          <a:xfrm>
            <a:off x="152400" y="1524000"/>
            <a:ext cx="876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231775" indent="-231775">
              <a:buFont typeface="Arial" charset="0"/>
              <a:buChar char="•"/>
            </a:pPr>
            <a:r>
              <a:rPr lang="en-US" altLang="ro-RO" dirty="0"/>
              <a:t>Ce </a:t>
            </a:r>
            <a:r>
              <a:rPr lang="ro-RO" altLang="ro-RO" dirty="0" err="1"/>
              <a:t>cunoș</a:t>
            </a:r>
            <a:r>
              <a:rPr lang="en-US" altLang="ro-RO" dirty="0"/>
              <a:t>tin</a:t>
            </a:r>
            <a:r>
              <a:rPr lang="ro-RO" altLang="ro-RO" dirty="0"/>
              <a:t>ț</a:t>
            </a:r>
            <a:r>
              <a:rPr lang="en-US" altLang="ro-RO" dirty="0"/>
              <a:t>e au </a:t>
            </a:r>
            <a:r>
              <a:rPr lang="en-US" altLang="ro-RO" dirty="0" err="1"/>
              <a:t>fost</a:t>
            </a:r>
            <a:r>
              <a:rPr lang="en-US" altLang="ro-RO" dirty="0"/>
              <a:t> dob</a:t>
            </a:r>
            <a:r>
              <a:rPr lang="ro-RO" altLang="ro-RO" dirty="0"/>
              <a:t>â</a:t>
            </a:r>
            <a:r>
              <a:rPr lang="en-US" altLang="ro-RO" dirty="0" err="1"/>
              <a:t>ndite</a:t>
            </a:r>
            <a:r>
              <a:rPr lang="en-US" altLang="ro-RO" dirty="0"/>
              <a:t> pe </a:t>
            </a:r>
            <a:r>
              <a:rPr lang="en-US" altLang="ro-RO" dirty="0" err="1"/>
              <a:t>parcursul</a:t>
            </a:r>
            <a:r>
              <a:rPr lang="en-US" altLang="ro-RO" dirty="0"/>
              <a:t> </a:t>
            </a:r>
            <a:r>
              <a:rPr lang="en-US" altLang="ro-RO" dirty="0" err="1"/>
              <a:t>activit</a:t>
            </a:r>
            <a:r>
              <a:rPr lang="ro-RO" altLang="ro-RO" dirty="0" err="1"/>
              <a:t>ăț</a:t>
            </a:r>
            <a:r>
              <a:rPr lang="en-US" altLang="ro-RO" dirty="0" err="1"/>
              <a:t>ilor</a:t>
            </a:r>
            <a:r>
              <a:rPr lang="en-US" altLang="ro-RO" dirty="0"/>
              <a:t>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/>
              <a:t>urate </a:t>
            </a:r>
            <a:r>
              <a:rPr lang="ro-RO" altLang="ro-RO" dirty="0"/>
              <a:t>î</a:t>
            </a:r>
            <a:r>
              <a:rPr lang="en-US" altLang="ro-RO" dirty="0"/>
              <a:t>n </a:t>
            </a:r>
            <a:r>
              <a:rPr lang="en-US" altLang="ro-RO" dirty="0" err="1"/>
              <a:t>cadrul</a:t>
            </a:r>
            <a:r>
              <a:rPr lang="en-US" altLang="ro-RO" dirty="0"/>
              <a:t> </a:t>
            </a:r>
            <a:r>
              <a:rPr lang="en-US" altLang="ro-RO" dirty="0" err="1"/>
              <a:t>proiectului</a:t>
            </a:r>
            <a:endParaRPr lang="en-US" altLang="ro-RO" dirty="0"/>
          </a:p>
          <a:p>
            <a:pPr marL="231775" indent="-231775">
              <a:buFont typeface="Arial" charset="0"/>
              <a:buChar char="•"/>
            </a:pPr>
            <a:r>
              <a:rPr lang="en-US" altLang="ro-RO" dirty="0" err="1"/>
              <a:t>Eviden</a:t>
            </a:r>
            <a:r>
              <a:rPr lang="ro-RO" altLang="ro-RO" dirty="0"/>
              <a:t>ț</a:t>
            </a:r>
            <a:r>
              <a:rPr lang="en-US" altLang="ro-RO" dirty="0" err="1"/>
              <a:t>ia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, </a:t>
            </a:r>
            <a:r>
              <a:rPr lang="en-US" altLang="ro-RO" dirty="0" err="1"/>
              <a:t>dac</a:t>
            </a:r>
            <a:r>
              <a:rPr lang="ro-RO" altLang="ro-RO" dirty="0"/>
              <a:t>ă</a:t>
            </a:r>
            <a:r>
              <a:rPr lang="en-US" altLang="ro-RO" dirty="0"/>
              <a:t> exist</a:t>
            </a:r>
            <a:r>
              <a:rPr lang="ro-RO" altLang="ro-RO" dirty="0"/>
              <a:t>ă</a:t>
            </a:r>
            <a:r>
              <a:rPr lang="en-US" altLang="ro-RO" dirty="0"/>
              <a:t>, p</a:t>
            </a:r>
            <a:r>
              <a:rPr lang="ro-RO" altLang="ro-RO" dirty="0"/>
              <a:t>ă</a:t>
            </a:r>
            <a:r>
              <a:rPr lang="en-US" altLang="ro-RO" dirty="0"/>
              <a:t>r</a:t>
            </a:r>
            <a:r>
              <a:rPr lang="ro-RO" altLang="ro-RO" dirty="0"/>
              <a:t>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bune</a:t>
            </a:r>
            <a:r>
              <a:rPr lang="en-US" altLang="ro-RO" dirty="0"/>
              <a:t> legate de </a:t>
            </a:r>
            <a:r>
              <a:rPr lang="en-US" altLang="ro-RO" dirty="0" err="1"/>
              <a:t>activitatea</a:t>
            </a:r>
            <a:r>
              <a:rPr lang="en-US" altLang="ro-RO" dirty="0"/>
              <a:t> </a:t>
            </a:r>
            <a:r>
              <a:rPr lang="en-US" altLang="ro-RO" dirty="0" err="1"/>
              <a:t>depus</a:t>
            </a:r>
            <a:r>
              <a:rPr lang="ro-RO" altLang="ro-RO" dirty="0"/>
              <a:t>ă</a:t>
            </a:r>
            <a:r>
              <a:rPr lang="en-US" altLang="ro-RO" dirty="0"/>
              <a:t> </a:t>
            </a:r>
            <a:r>
              <a:rPr lang="ro-RO" altLang="ro-RO" dirty="0"/>
              <a:t>ș</a:t>
            </a:r>
            <a:r>
              <a:rPr lang="en-US" altLang="ro-RO" dirty="0" err="1"/>
              <a:t>i</a:t>
            </a:r>
            <a:r>
              <a:rPr lang="en-US" altLang="ro-RO" dirty="0"/>
              <a:t>/ </a:t>
            </a:r>
            <a:r>
              <a:rPr lang="en-US" altLang="ro-RO" dirty="0" err="1"/>
              <a:t>sau</a:t>
            </a:r>
            <a:r>
              <a:rPr lang="en-US" altLang="ro-RO" dirty="0"/>
              <a:t> </a:t>
            </a:r>
            <a:r>
              <a:rPr lang="en-US" altLang="ro-RO" dirty="0" err="1"/>
              <a:t>preciza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 p</a:t>
            </a:r>
            <a:r>
              <a:rPr lang="ro-RO" altLang="ro-RO" dirty="0"/>
              <a:t>ă</a:t>
            </a:r>
            <a:r>
              <a:rPr lang="en-US" altLang="ro-RO" dirty="0"/>
              <a:t>r</a:t>
            </a:r>
            <a:r>
              <a:rPr lang="ro-RO" altLang="ro-RO" dirty="0"/>
              <a:t>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slabe</a:t>
            </a:r>
            <a:r>
              <a:rPr lang="en-US" altLang="ro-RO" dirty="0"/>
              <a:t> </a:t>
            </a:r>
            <a:r>
              <a:rPr lang="en-US" altLang="ro-RO" dirty="0" err="1"/>
              <a:t>existente</a:t>
            </a:r>
            <a:r>
              <a:rPr lang="en-US" altLang="ro-RO" dirty="0"/>
              <a:t> </a:t>
            </a:r>
            <a:r>
              <a:rPr lang="ro-RO" altLang="ro-RO" dirty="0"/>
              <a:t>î</a:t>
            </a:r>
            <a:r>
              <a:rPr lang="en-US" altLang="ro-RO" dirty="0"/>
              <a:t>n </a:t>
            </a:r>
            <a:r>
              <a:rPr lang="en-US" altLang="ro-RO" dirty="0" err="1"/>
              <a:t>organizarea</a:t>
            </a:r>
            <a:r>
              <a:rPr lang="en-US" altLang="ro-RO" dirty="0"/>
              <a:t>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 err="1"/>
              <a:t>ur</a:t>
            </a:r>
            <a:r>
              <a:rPr lang="ro-RO" altLang="ro-RO" dirty="0"/>
              <a:t>ă</a:t>
            </a:r>
            <a:r>
              <a:rPr lang="en-US" altLang="ro-RO" dirty="0" err="1"/>
              <a:t>rii</a:t>
            </a:r>
            <a:r>
              <a:rPr lang="en-US" altLang="ro-RO" dirty="0"/>
              <a:t> </a:t>
            </a:r>
            <a:r>
              <a:rPr lang="en-US" altLang="ro-RO" dirty="0" err="1"/>
              <a:t>proiectului</a:t>
            </a:r>
            <a:r>
              <a:rPr lang="ro-RO" altLang="ro-RO" dirty="0"/>
              <a:t> </a:t>
            </a:r>
            <a:endParaRPr lang="en-US" altLang="ro-RO" dirty="0"/>
          </a:p>
          <a:p>
            <a:pPr marL="231775" indent="-231775">
              <a:buFont typeface="Arial" charset="0"/>
              <a:buChar char="•"/>
            </a:pPr>
            <a:r>
              <a:rPr lang="en-US" altLang="ro-RO" dirty="0"/>
              <a:t>Care </a:t>
            </a:r>
            <a:r>
              <a:rPr lang="en-US" altLang="ro-RO" dirty="0" err="1"/>
              <a:t>ar</a:t>
            </a:r>
            <a:r>
              <a:rPr lang="en-US" altLang="ro-RO" dirty="0"/>
              <a:t> fi </a:t>
            </a:r>
            <a:r>
              <a:rPr lang="en-US" altLang="ro-RO" dirty="0" err="1"/>
              <a:t>propunerea</a:t>
            </a:r>
            <a:r>
              <a:rPr lang="en-US" altLang="ro-RO" dirty="0"/>
              <a:t> </a:t>
            </a:r>
            <a:r>
              <a:rPr lang="en-US" altLang="ro-RO" dirty="0" err="1"/>
              <a:t>voastr</a:t>
            </a:r>
            <a:r>
              <a:rPr lang="ro-RO" altLang="ro-RO" dirty="0"/>
              <a:t>ă</a:t>
            </a:r>
            <a:r>
              <a:rPr lang="en-US" altLang="ro-RO" dirty="0"/>
              <a:t>, </a:t>
            </a:r>
            <a:r>
              <a:rPr lang="en-US" altLang="ro-RO" dirty="0" err="1"/>
              <a:t>privind</a:t>
            </a:r>
            <a:r>
              <a:rPr lang="en-US" altLang="ro-RO" dirty="0"/>
              <a:t> </a:t>
            </a:r>
            <a:r>
              <a:rPr lang="en-US" altLang="ro-RO" dirty="0" err="1"/>
              <a:t>modul</a:t>
            </a:r>
            <a:r>
              <a:rPr lang="en-US" altLang="ro-RO" dirty="0"/>
              <a:t> </a:t>
            </a:r>
            <a:r>
              <a:rPr lang="ro-RO" altLang="ro-RO" dirty="0"/>
              <a:t>î</a:t>
            </a:r>
            <a:r>
              <a:rPr lang="en-US" altLang="ro-RO" dirty="0"/>
              <a:t>n care </a:t>
            </a:r>
            <a:r>
              <a:rPr lang="en-US" altLang="ro-RO" dirty="0" err="1"/>
              <a:t>ar</a:t>
            </a:r>
            <a:r>
              <a:rPr lang="en-US" altLang="ro-RO" dirty="0"/>
              <a:t> </a:t>
            </a:r>
            <a:r>
              <a:rPr lang="en-US" altLang="ro-RO" dirty="0" err="1"/>
              <a:t>trebui</a:t>
            </a:r>
            <a:r>
              <a:rPr lang="en-US" altLang="ro-RO" dirty="0"/>
              <a:t> s</a:t>
            </a:r>
            <a:r>
              <a:rPr lang="ro-RO" altLang="ro-RO" dirty="0"/>
              <a:t>ă</a:t>
            </a:r>
            <a:r>
              <a:rPr lang="en-US" altLang="ro-RO" dirty="0"/>
              <a:t> se </a:t>
            </a:r>
            <a:r>
              <a:rPr lang="en-US" altLang="ro-RO" dirty="0" err="1"/>
              <a:t>desf</a:t>
            </a:r>
            <a:r>
              <a:rPr lang="ro-RO" altLang="ro-RO" dirty="0" err="1"/>
              <a:t>ăș</a:t>
            </a:r>
            <a:r>
              <a:rPr lang="en-US" altLang="ro-RO" dirty="0" err="1"/>
              <a:t>oare</a:t>
            </a:r>
            <a:r>
              <a:rPr lang="en-US" altLang="ro-RO" dirty="0"/>
              <a:t> </a:t>
            </a:r>
            <a:r>
              <a:rPr lang="en-US" altLang="ro-RO" dirty="0" err="1"/>
              <a:t>activit</a:t>
            </a:r>
            <a:r>
              <a:rPr lang="ro-RO" altLang="ro-RO" dirty="0" err="1"/>
              <a:t>ăț</a:t>
            </a:r>
            <a:r>
              <a:rPr lang="en-US" altLang="ro-RO" dirty="0" err="1"/>
              <a:t>ile</a:t>
            </a:r>
            <a:r>
              <a:rPr lang="en-US" altLang="ro-RO" dirty="0"/>
              <a:t> </a:t>
            </a:r>
            <a:r>
              <a:rPr lang="en-US" altLang="ro-RO" dirty="0" err="1"/>
              <a:t>cerute</a:t>
            </a:r>
            <a:r>
              <a:rPr lang="en-US" altLang="ro-RO" dirty="0"/>
              <a:t> de </a:t>
            </a:r>
            <a:r>
              <a:rPr lang="en-US" altLang="ro-RO" dirty="0" err="1"/>
              <a:t>proiect</a:t>
            </a:r>
            <a:r>
              <a:rPr lang="en-US" altLang="ro-RO" dirty="0"/>
              <a:t>, </a:t>
            </a:r>
            <a:r>
              <a:rPr lang="en-US" altLang="ro-RO" dirty="0" err="1"/>
              <a:t>pentru</a:t>
            </a:r>
            <a:r>
              <a:rPr lang="en-US" altLang="ro-RO" dirty="0"/>
              <a:t> a se </a:t>
            </a:r>
            <a:r>
              <a:rPr lang="en-US" altLang="ro-RO" dirty="0" err="1"/>
              <a:t>asigura</a:t>
            </a:r>
            <a:r>
              <a:rPr lang="en-US" altLang="ro-RO" dirty="0"/>
              <a:t> </a:t>
            </a:r>
            <a:r>
              <a:rPr lang="en-US" altLang="ro-RO" dirty="0" err="1"/>
              <a:t>finalizarea</a:t>
            </a:r>
            <a:r>
              <a:rPr lang="en-US" altLang="ro-RO" dirty="0"/>
              <a:t> </a:t>
            </a:r>
            <a:r>
              <a:rPr lang="en-US" altLang="ro-RO" dirty="0" err="1"/>
              <a:t>sa</a:t>
            </a:r>
            <a:r>
              <a:rPr lang="en-US" altLang="ro-RO" dirty="0"/>
              <a:t>. </a:t>
            </a:r>
            <a:r>
              <a:rPr lang="en-US" altLang="ro-RO" dirty="0" err="1"/>
              <a:t>Prezenta</a:t>
            </a:r>
            <a:r>
              <a:rPr lang="ro-RO" altLang="ro-RO" dirty="0"/>
              <a:t>ț</a:t>
            </a:r>
            <a:r>
              <a:rPr lang="en-US" altLang="ro-RO" dirty="0" err="1"/>
              <a:t>i</a:t>
            </a:r>
            <a:r>
              <a:rPr lang="en-US" altLang="ro-RO" dirty="0"/>
              <a:t> </a:t>
            </a:r>
            <a:r>
              <a:rPr lang="en-US" altLang="ro-RO" dirty="0" err="1"/>
              <a:t>diagrama</a:t>
            </a:r>
            <a:r>
              <a:rPr lang="en-US" altLang="ro-RO" dirty="0"/>
              <a:t> Gantt </a:t>
            </a:r>
            <a:r>
              <a:rPr lang="en-US" altLang="ro-RO" dirty="0" err="1"/>
              <a:t>corespunz</a:t>
            </a:r>
            <a:r>
              <a:rPr lang="ro-RO" altLang="ro-RO" dirty="0"/>
              <a:t>ă</a:t>
            </a:r>
            <a:r>
              <a:rPr lang="en-US" altLang="ro-RO" dirty="0" err="1"/>
              <a:t>toare</a:t>
            </a:r>
            <a:r>
              <a:rPr lang="en-US" altLang="ro-RO" dirty="0"/>
              <a:t>.</a:t>
            </a:r>
            <a:endParaRPr lang="ro-RO" altLang="ro-RO" dirty="0"/>
          </a:p>
          <a:p>
            <a:pPr indent="231775">
              <a:buFont typeface="Arial" charset="0"/>
              <a:buChar char="•"/>
            </a:pPr>
            <a:r>
              <a:rPr lang="ro-RO" altLang="ro-RO" dirty="0"/>
              <a:t> </a:t>
            </a:r>
            <a:r>
              <a:rPr lang="en-US" altLang="ro-RO" dirty="0">
                <a:solidFill>
                  <a:srgbClr val="FF0000"/>
                </a:solidFill>
              </a:rPr>
              <a:t>M</a:t>
            </a:r>
            <a:r>
              <a:rPr lang="ro-RO" altLang="ro-RO" dirty="0">
                <a:solidFill>
                  <a:srgbClr val="FF0000"/>
                </a:solidFill>
              </a:rPr>
              <a:t>axim două pagini</a:t>
            </a:r>
          </a:p>
          <a:p>
            <a:pPr>
              <a:buFont typeface="Arial" charset="0"/>
              <a:buChar char="•"/>
            </a:pPr>
            <a:endParaRPr lang="ro-RO" altLang="ro-RO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</a:pPr>
            <a:r>
              <a:rPr lang="ro-RO" altLang="ro-RO" dirty="0">
                <a:solidFill>
                  <a:srgbClr val="FF0000"/>
                </a:solidFill>
              </a:rPr>
              <a:t> ! Timpul maxim acordat expunerii este de </a:t>
            </a:r>
            <a:r>
              <a:rPr lang="en-US" altLang="ro-RO" dirty="0">
                <a:solidFill>
                  <a:srgbClr val="FF0000"/>
                </a:solidFill>
              </a:rPr>
              <a:t>5-6</a:t>
            </a:r>
            <a:r>
              <a:rPr lang="ro-RO" altLang="ro-RO" dirty="0">
                <a:solidFill>
                  <a:srgbClr val="FF0000"/>
                </a:solidFill>
              </a:rPr>
              <a:t>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304800" y="1066800"/>
            <a:ext cx="7772400" cy="457200"/>
          </a:xfrm>
        </p:spPr>
        <p:txBody>
          <a:bodyPr/>
          <a:lstStyle/>
          <a:p>
            <a:pPr algn="l"/>
            <a:r>
              <a:rPr lang="ro-RO" altLang="en-US" sz="2400" b="1" dirty="0">
                <a:latin typeface="Arial" charset="0"/>
                <a:cs typeface="Arial" charset="0"/>
              </a:rPr>
              <a:t>Discipline studiate utile în realizarea proiectului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0"/>
            <a:ext cx="8534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77800" indent="-177800">
              <a:buFont typeface="Arial" pitchFamily="34" charset="0"/>
              <a:buChar char="•"/>
              <a:defRPr/>
            </a:pP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S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e trec disciplinele 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din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care au fost utilizate cunoștințe/informații pentru realizarea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proiectului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ea typeface="+mj-ea"/>
              <a:cs typeface="Arial" pitchFamily="34" charset="0"/>
            </a:endParaRPr>
          </a:p>
          <a:p>
            <a:pPr marL="177800" indent="-177800">
              <a:buFont typeface="Arial" pitchFamily="34" charset="0"/>
              <a:buChar char="•"/>
              <a:defRPr/>
            </a:pP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Ce discipline,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aflate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î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n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semestrele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din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amonte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,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ar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fi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trebuit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s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ă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fie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mai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bine 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î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nsu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ș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ite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pentru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u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ș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urarea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realiz</a:t>
            </a:r>
            <a:r>
              <a:rPr lang="ro-RO" dirty="0">
                <a:latin typeface="Arial" pitchFamily="34" charset="0"/>
                <a:ea typeface="+mj-ea"/>
                <a:cs typeface="Arial" pitchFamily="34" charset="0"/>
              </a:rPr>
              <a:t>ă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rii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activit</a:t>
            </a:r>
            <a:r>
              <a:rPr lang="ro-RO" dirty="0" err="1">
                <a:latin typeface="Arial" pitchFamily="34" charset="0"/>
                <a:ea typeface="+mj-ea"/>
                <a:cs typeface="Arial" pitchFamily="34" charset="0"/>
              </a:rPr>
              <a:t>ăț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ilor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conexe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ea typeface="+mj-ea"/>
                <a:cs typeface="Arial" pitchFamily="34" charset="0"/>
              </a:rPr>
              <a:t>proiectului</a:t>
            </a:r>
            <a:r>
              <a:rPr lang="en-US" dirty="0">
                <a:latin typeface="Arial" pitchFamily="34" charset="0"/>
                <a:ea typeface="+mj-ea"/>
                <a:cs typeface="Arial" pitchFamily="34" charset="0"/>
              </a:rPr>
              <a:t>?</a:t>
            </a:r>
          </a:p>
          <a:p>
            <a:pPr>
              <a:buFont typeface="Arial" pitchFamily="34" charset="0"/>
              <a:buChar char="•"/>
              <a:defRPr/>
            </a:pPr>
            <a:endParaRPr lang="en-US" dirty="0">
              <a:ea typeface="+mj-ea"/>
            </a:endParaRPr>
          </a:p>
          <a:p>
            <a:pPr>
              <a:buFont typeface="Arial" pitchFamily="34" charset="0"/>
              <a:buChar char="•"/>
              <a:defRPr/>
            </a:pPr>
            <a:endParaRPr lang="ro-RO" dirty="0">
              <a:solidFill>
                <a:srgbClr val="FF0000"/>
              </a:solidFill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1905000"/>
            <a:ext cx="371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b="1" dirty="0">
                <a:solidFill>
                  <a:srgbClr val="FF0000"/>
                </a:solidFill>
              </a:rPr>
              <a:t>- se </a:t>
            </a:r>
            <a:r>
              <a:rPr lang="en-GB" altLang="en-US" b="1" dirty="0" err="1">
                <a:solidFill>
                  <a:srgbClr val="FF0000"/>
                </a:solidFill>
              </a:rPr>
              <a:t>va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en-GB" altLang="en-US" b="1" dirty="0" err="1">
                <a:solidFill>
                  <a:srgbClr val="FF0000"/>
                </a:solidFill>
              </a:rPr>
              <a:t>completa</a:t>
            </a:r>
            <a:r>
              <a:rPr lang="en-GB" altLang="en-US" b="1" dirty="0">
                <a:solidFill>
                  <a:srgbClr val="FF0000"/>
                </a:solidFill>
              </a:rPr>
              <a:t> </a:t>
            </a:r>
            <a:r>
              <a:rPr lang="ro-RO" altLang="en-US" b="1" dirty="0">
                <a:solidFill>
                  <a:srgbClr val="FF0000"/>
                </a:solidFill>
              </a:rPr>
              <a:t>î</a:t>
            </a:r>
            <a:r>
              <a:rPr lang="en-GB" altLang="en-US" b="1" dirty="0">
                <a:solidFill>
                  <a:srgbClr val="FF0000"/>
                </a:solidFill>
              </a:rPr>
              <a:t>n Sem</a:t>
            </a:r>
            <a:r>
              <a:rPr lang="ro-RO" altLang="en-US" b="1" dirty="0">
                <a:solidFill>
                  <a:srgbClr val="FF0000"/>
                </a:solidFill>
              </a:rPr>
              <a:t>.</a:t>
            </a:r>
            <a:r>
              <a:rPr lang="en-GB" altLang="en-US" b="1" dirty="0">
                <a:solidFill>
                  <a:srgbClr val="FF0000"/>
                </a:solidFill>
              </a:rPr>
              <a:t> al II-lea</a:t>
            </a:r>
            <a:endParaRPr lang="en-GB" dirty="0"/>
          </a:p>
        </p:txBody>
      </p:sp>
    </p:spTree>
  </p:cSld>
  <p:clrMapOvr>
    <a:masterClrMapping/>
  </p:clrMapOvr>
  <p:transition>
    <p:pull dir="r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2584</TotalTime>
  <Words>796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Circuite Electronice Fundamentale 2 – Proiect (CEF2-Pr) </vt:lpstr>
      <vt:lpstr>Date de proiectare</vt:lpstr>
      <vt:lpstr>Schema bloc</vt:lpstr>
      <vt:lpstr>Schema electrică </vt:lpstr>
      <vt:lpstr>Simulări</vt:lpstr>
      <vt:lpstr>Simulări</vt:lpstr>
      <vt:lpstr>Layout</vt:lpstr>
      <vt:lpstr>Layout</vt:lpstr>
      <vt:lpstr>Fotografii din etapa de echipare a modulului electronic</vt:lpstr>
      <vt:lpstr>Rezultate experimentale</vt:lpstr>
      <vt:lpstr>Rezultate experimentale</vt:lpstr>
      <vt:lpstr>Concluzii</vt:lpstr>
      <vt:lpstr>Concluzii</vt:lpstr>
      <vt:lpstr>Discipline studiate utile în realizarea proiectului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</dc:creator>
  <cp:lastModifiedBy>Denis-Petrişor CRISTEA (141075)</cp:lastModifiedBy>
  <cp:revision>241</cp:revision>
  <dcterms:created xsi:type="dcterms:W3CDTF">2014-01-15T22:07:17Z</dcterms:created>
  <dcterms:modified xsi:type="dcterms:W3CDTF">2026-01-25T12:49:27Z</dcterms:modified>
</cp:coreProperties>
</file>